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4C7"/>
                </a:solidFill>
                <a:latin typeface="Outfit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❖ Problem Statement ID:</a:t>
            </a:r>
            <a:r>
              <a:rPr b="0" sz="1800">
                <a:solidFill>
                  <a:srgbClr val="0284C7"/>
                </a:solidFill>
              </a:rPr>
              <a:t> SIH-2026-DISASTER-01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❖ Problem Statement Title:</a:t>
            </a:r>
            <a:r>
              <a:rPr b="0" sz="1800">
                <a:solidFill>
                  <a:srgbClr val="0284C7"/>
                </a:solidFill>
              </a:rPr>
              <a:t> Hyper-Local Flash Flood &amp; Landslide Early Warning System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❖ Theme:</a:t>
            </a:r>
            <a:r>
              <a:rPr b="0" sz="1800">
                <a:solidFill>
                  <a:srgbClr val="0284C7"/>
                </a:solidFill>
              </a:rPr>
              <a:t> Disaster Management / ClimateTech / GeoTech / AI &amp; IoT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❖ PS Category:</a:t>
            </a:r>
            <a:r>
              <a:rPr b="0" sz="1800">
                <a:solidFill>
                  <a:srgbClr val="0284C7"/>
                </a:solidFill>
              </a:rPr>
              <a:t> Software + Hardware / IoT Mesh Integration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❖ Team ID:</a:t>
            </a:r>
            <a:r>
              <a:rPr b="0" sz="1800">
                <a:solidFill>
                  <a:srgbClr val="0284C7"/>
                </a:solidFill>
              </a:rPr>
              <a:t> Team-SIH-2026-REVOIRA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❖ Team Name:</a:t>
            </a:r>
            <a:r>
              <a:rPr b="0" sz="1800">
                <a:solidFill>
                  <a:srgbClr val="0284C7"/>
                </a:solidFill>
              </a:rPr>
              <a:t> Team Revoira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❖ Solution Name:</a:t>
            </a:r>
            <a:r>
              <a:rPr b="0" sz="1800">
                <a:solidFill>
                  <a:srgbClr val="0284C7"/>
                </a:solidFill>
              </a:rPr>
              <a:t> BhoomiRakshak Early Warning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Outfit"/>
              </a:defRPr>
            </a:pPr>
            <a:r>
              <a:t>IDEA, PROBLEM SOLUTION AND UVP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65760"/>
            <a:ext cx="6400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Outfit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284C7"/>
                </a:solidFill>
                <a:latin typeface="Outfit"/>
              </a:defRPr>
            </a:pPr>
            <a:r>
              <a:t>IDEA / SOLUTION :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Implementation of BhoomiRakshak: An AI &amp; IoT-Powered Hyper-Local Flash Flood &amp; Landslide Early Warning Infrastructure for High-Altitude Himalayan River Basins.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IoT Mesh Telemetry Feed - </a:t>
            </a:r>
            <a:r>
              <a:rPr sz="1200">
                <a:solidFill>
                  <a:srgbClr val="64748B"/>
                </a:solidFill>
              </a:rPr>
              <a:t>Uses ultrasonic stage gauges, OTT rain gauges, and soil moisture probes for live 1s-5s hazard monitoring.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Actionable Evacuation Lead Time - </a:t>
            </a:r>
            <a:r>
              <a:rPr sz="1200">
                <a:solidFill>
                  <a:srgbClr val="64748B"/>
                </a:solidFill>
              </a:rPr>
              <a:t>Calculates exact countdown window to river crest/breach for immediate emergency action.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Disaster Stress-Test Hub - </a:t>
            </a:r>
            <a:r>
              <a:rPr sz="1200">
                <a:solidFill>
                  <a:srgbClr val="64748B"/>
                </a:solidFill>
              </a:rPr>
              <a:t>Simulates extreme emergency scenarios (Cloudburst, GLOF, Slope Shear Collapse) for disaster preparedness.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54864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Outfit"/>
              </a:defRPr>
            </a:pPr>
            <a:r>
              <a:t>Problem Resolution :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</a:rPr>
              <a:t>• Sudden Cloudbursts &amp; GLOF: </a:t>
            </a:r>
            <a:r>
              <a:rPr sz="1100">
                <a:solidFill>
                  <a:srgbClr val="64748B"/>
                </a:solidFill>
              </a:rPr>
              <a:t>Provides 30-120+ minutes of actionable lead time at village/ward precision.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</a:rPr>
              <a:t>• Delayed Emergency Alerts: </a:t>
            </a:r>
            <a:r>
              <a:rPr sz="1100">
                <a:solidFill>
                  <a:srgbClr val="64748B"/>
                </a:solidFill>
              </a:rPr>
              <a:t>Automates 110dB sirens, ward SMS, and IVR broadcasts upon danger mark breach.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</a:rPr>
              <a:t>• Uncertain Evacuation Routes: </a:t>
            </a:r>
            <a:r>
              <a:rPr sz="1100">
                <a:solidFill>
                  <a:srgbClr val="64748B"/>
                </a:solidFill>
              </a:rPr>
              <a:t>Directs populations to high-altitude shelters along safe ridge bypass tracks.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4864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Outfit"/>
              </a:defRPr>
            </a:pPr>
            <a:r>
              <a:t>Unique Value Propositions (UVP) :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</a:rPr>
              <a:t>• Hyper-Local Ward Precision: </a:t>
            </a:r>
            <a:r>
              <a:rPr sz="1100">
                <a:solidFill>
                  <a:srgbClr val="64748B"/>
                </a:solidFill>
              </a:rPr>
              <a:t>Combines riverbed stage height &amp; local rain rate for ward-level warnings.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</a:rPr>
              <a:t>• Dual-Hazard Risk Intelligence: </a:t>
            </a:r>
            <a:r>
              <a:rPr sz="1100">
                <a:solidFill>
                  <a:srgbClr val="64748B"/>
                </a:solidFill>
              </a:rPr>
              <a:t>Simultaneously calculates Flash Flood Inundation &amp; Slope Shear Landslide risk.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</a:rPr>
              <a:t>• Mission Control 100vh Single-Window UI: </a:t>
            </a:r>
            <a:r>
              <a:rPr sz="1100">
                <a:solidFill>
                  <a:srgbClr val="64748B"/>
                </a:solidFill>
              </a:rPr>
              <a:t>Zero-scroll high-density GIS layout for instantaneous situational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Outfit"/>
              </a:defRPr>
            </a:pPr>
            <a:r>
              <a:t>TECHNICAL APPROACH &amp;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65760"/>
            <a:ext cx="6400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Outfit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2179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  <a:latin typeface="Outfit"/>
              </a:defRPr>
            </a:pPr>
            <a:r>
              <a:t>Methodology &amp; Execution Flow: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1. IoT Mesh Telemetry Ingestion (Ultrasonic Stage + Rain ARG + Soil TDR)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2. Hydro-Meteorological Data Fusion &amp; Risk Engine Processing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3. Dual-Hazard Scoring (Flash Flood Inundation + Landslide Slope Shear)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4. Actionable Evacuation Lead Time Calculation (Minutes to Breach)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5. Threshold Breach Evaluation (Danger Mark / Score &gt;= 70)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6. Automated Emergency Broadcast (110dB Siren + Ward SMS + IVR Calls)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7. Spatial GIS Mission Control &amp; Interactive Simulation Hub Display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66344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28016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  <a:latin typeface="Outfit"/>
              </a:defRPr>
            </a:pPr>
            <a:r>
              <a:t>Core Tech Stack &amp; Architecture: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Frontend UI Framework
</a:t>
            </a:r>
            <a:r>
              <a:rPr sz="1100">
                <a:solidFill>
                  <a:srgbClr val="64748B"/>
                </a:solidFill>
              </a:rPr>
              <a:t>  React 18, Vite, Custom Single-Window 100vh Vanilla CSS.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GIS Spatial Mapping
</a:t>
            </a:r>
            <a:r>
              <a:rPr sz="1100">
                <a:solidFill>
                  <a:srgbClr val="64748B"/>
                </a:solidFill>
              </a:rPr>
              <a:t>  Leaflet GIS with Esri Topo &amp; Satellite Layer Switcher.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Telemetry Visualization
</a:t>
            </a:r>
            <a:r>
              <a:rPr sz="1100">
                <a:solidFill>
                  <a:srgbClr val="64748B"/>
                </a:solidFill>
              </a:rPr>
              <a:t>  Chart.js with 30-Day View &amp; 1s Live Telemetry Feed.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Disaster Engine
</a:t>
            </a:r>
            <a:r>
              <a:rPr sz="1100">
                <a:solidFill>
                  <a:srgbClr val="64748B"/>
                </a:solidFill>
              </a:rPr>
              <a:t>  Real-Time Water Stage Drift Loop &amp; Scenario Stress-Tester.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Communication Stack
</a:t>
            </a:r>
            <a:r>
              <a:rPr sz="1100">
                <a:solidFill>
                  <a:srgbClr val="64748B"/>
                </a:solidFill>
              </a:rPr>
              <a:t>  WebSockets, MQTT Gateway, LoRaWAN / Satellite Mesh.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Outfit"/>
              </a:defRPr>
            </a:pPr>
            <a:r>
              <a:t>IMPACT AND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65760"/>
            <a:ext cx="6400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Outfit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284C7"/>
                </a:solidFill>
                <a:latin typeface="Outfit"/>
              </a:defRPr>
            </a:pPr>
            <a:r>
              <a:t>IMPACTS: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F172A"/>
                </a:solidFill>
              </a:rPr>
              <a:t>• Saves Lives in Mountain Wards: </a:t>
            </a:r>
            <a:r>
              <a:rPr sz="1200">
                <a:solidFill>
                  <a:srgbClr val="64748B"/>
                </a:solidFill>
              </a:rPr>
              <a:t>Eliminates casualties from cloudbursts and glacial lake outburst floods through actionable advance warning.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F172A"/>
                </a:solidFill>
              </a:rPr>
              <a:t>• Protects Critical Infrastructure: </a:t>
            </a:r>
            <a:r>
              <a:rPr sz="1200">
                <a:solidFill>
                  <a:srgbClr val="64748B"/>
                </a:solidFill>
              </a:rPr>
              <a:t>Gives dam operators, roads departments, and SDRF teams advance notice to open floodgates or divert traffic.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F172A"/>
                </a:solidFill>
              </a:rPr>
              <a:t>• Standardizes National Response: </a:t>
            </a:r>
            <a:r>
              <a:rPr sz="1200">
                <a:solidFill>
                  <a:srgbClr val="64748B"/>
                </a:solidFill>
              </a:rPr>
              <a:t>Directly aligns ward disaster committee checklists with NDRF/SDRF emergency protocols.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548640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284C7"/>
                </a:solidFill>
                <a:latin typeface="Outfit"/>
              </a:defRPr>
            </a:pPr>
            <a:r>
              <a:t>BENEFITS: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F172A"/>
                </a:solidFill>
              </a:rPr>
              <a:t>• Actionable Evacuation Lead Time: </a:t>
            </a:r>
            <a:r>
              <a:rPr sz="1200">
                <a:solidFill>
                  <a:srgbClr val="64748B"/>
                </a:solidFill>
              </a:rPr>
              <a:t>Provides clear countdown-based evacuation windows (e.g. '38 Mins Remaining') rather than vague advisories.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F172A"/>
                </a:solidFill>
              </a:rPr>
              <a:t>• Automated Multi-Channel Broadcast: </a:t>
            </a:r>
            <a:r>
              <a:rPr sz="1200">
                <a:solidFill>
                  <a:srgbClr val="64748B"/>
                </a:solidFill>
              </a:rPr>
              <a:t>Simultaneously triggers high-decibel sirens, mobile SMS alerts to ward residents, IVR calls, and FM disaster radio.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F172A"/>
                </a:solidFill>
              </a:rPr>
              <a:t>• Effortless Stress-Testing: </a:t>
            </a:r>
            <a:r>
              <a:rPr sz="1200">
                <a:solidFill>
                  <a:srgbClr val="64748B"/>
                </a:solidFill>
              </a:rPr>
              <a:t>Enables authorities to simulate severe cloudbursts or slope collapses to test evacuation readiness before monsoons.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Outfit"/>
              </a:defRPr>
            </a:pPr>
            <a:r>
              <a:t>FEASIBILITY AND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65760"/>
            <a:ext cx="6400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Outfit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284C7"/>
                </a:solidFill>
                <a:latin typeface="Outfit"/>
              </a:defRPr>
            </a:pPr>
            <a:r>
              <a:t>Feasibility: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Proven tech stack using Leaflet GIS, Chart.js, React &amp; WebSockets.</a:t>
            </a:r>
            <a:br/>
            <a:br/>
            <a:r>
              <a:t>• Integration ready with CWC Telemetry APIs, IMD Weather Feeds &amp; ISRO MOSDAC.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284C7"/>
                </a:solidFill>
                <a:latin typeface="Outfit"/>
              </a:defRPr>
            </a:pPr>
            <a:r>
              <a:t>Viability: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Solar-powered LoRaWAN sensor mesh ensures low operational costs.</a:t>
            </a:r>
            <a:br/>
            <a:br/>
            <a:r>
              <a:t>• Scalable nationwide across mountain river basins, coastal regions, and urban flood zones.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2801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C2626"/>
                </a:solidFill>
                <a:latin typeface="Outfit"/>
              </a:defRPr>
            </a:pPr>
            <a:r>
              <a:t>Possible Risk: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Extreme debris surge damaging riverbed sensors.</a:t>
            </a:r>
            <a:br/>
            <a:br/>
            <a:r>
              <a:t>• Cellular network disruption in remote valleys during severe cloudbursts.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10642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6A34A"/>
                </a:solidFill>
                <a:latin typeface="Outfit"/>
              </a:defRPr>
            </a:pPr>
            <a:r>
              <a:t>Strategies for Overcoming These Challenges: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Deploying dual LoRaWAN + Satellite uplink modules on high-elevation ridge nodes above flood surge lines.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Mounting non-contact 24GHz radar stage sensors on elevated mountain bridges rather than in-stream structures.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Outfit"/>
              </a:defRPr>
            </a:pPr>
            <a:r>
              <a:t>RESEARCH AND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65760"/>
            <a:ext cx="6400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Outfit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6424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400">
                <a:solidFill>
                  <a:srgbClr val="0284C7"/>
                </a:solidFill>
              </a:rPr>
              <a:t>❖  OFFICIAL GUIDELINES &amp; ACTS ---&gt; </a:t>
            </a:r>
            <a:r>
              <a:rPr sz="1200">
                <a:solidFill>
                  <a:srgbClr val="0F172A"/>
                </a:solidFill>
              </a:rPr>
              <a:t>➢ NDMA Guidelines: Management of Floods &amp; Urban Floods (Govt. of India)  ➢  CWC Telemetry Standards Manual
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284C7"/>
                </a:solidFill>
              </a:rPr>
              <a:t>❖  ARTICLES ---&gt; </a:t>
            </a:r>
            <a:r>
              <a:rPr sz="1200">
                <a:solidFill>
                  <a:srgbClr val="0F172A"/>
                </a:solidFill>
              </a:rPr>
              <a:t>➢ Himalayan Flash Flood &amp; GLOF Analysis (ScienceDirect)  ➢  IoT-Based Landslide Early Warning Systems (IEEE Systems Journal)
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284C7"/>
                </a:solidFill>
              </a:rPr>
              <a:t>❖  JOURNAL AND STATISTICS ---&gt; </a:t>
            </a:r>
            <a:r>
              <a:rPr sz="1200">
                <a:solidFill>
                  <a:srgbClr val="0F172A"/>
                </a:solidFill>
              </a:rPr>
              <a:t>➢ International Study on Mountain Hazard Lead Time Metrics (BMJ/Hydrology 2021)  ➢  Disaster Management Mitigation Strategies
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284C7"/>
                </a:solidFill>
              </a:rPr>
              <a:t>❖  ONLINE SOURCES (OFFICIAL PORTALS) ---&gt; </a:t>
            </a:r>
            <a:r>
              <a:rPr sz="1200">
                <a:solidFill>
                  <a:srgbClr val="0F172A"/>
                </a:solidFill>
              </a:rPr>
              <a:t>➢ Central Water Commission Telemetry Portal (cwc.gov.in)  ➢  India Meteorological Department AWS Portal (mausam.imd.gov.in)  ➢  ISRO MOSDAC Satellite Portal (mosdac.gov.in)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